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342" r:id="rId3"/>
    <p:sldId id="305" r:id="rId4"/>
    <p:sldId id="307" r:id="rId5"/>
    <p:sldId id="308" r:id="rId6"/>
    <p:sldId id="344" r:id="rId7"/>
    <p:sldId id="334" r:id="rId8"/>
    <p:sldId id="345" r:id="rId9"/>
    <p:sldId id="335" r:id="rId10"/>
    <p:sldId id="336" r:id="rId11"/>
    <p:sldId id="337" r:id="rId12"/>
    <p:sldId id="338" r:id="rId13"/>
    <p:sldId id="339" r:id="rId14"/>
    <p:sldId id="340" r:id="rId15"/>
    <p:sldId id="341" r:id="rId16"/>
    <p:sldId id="330" r:id="rId17"/>
    <p:sldId id="331" r:id="rId18"/>
    <p:sldId id="316" r:id="rId19"/>
    <p:sldId id="343" r:id="rId20"/>
    <p:sldId id="259" r:id="rId21"/>
  </p:sldIdLst>
  <p:sldSz cx="12192000" cy="6858000"/>
  <p:notesSz cx="6858000" cy="9144000"/>
  <p:embeddedFontLst>
    <p:embeddedFont>
      <p:font typeface="Lato Black" panose="020F0502020204030203" pitchFamily="34" charset="0"/>
      <p:bold r:id="rId23"/>
      <p:boldItalic r:id="rId24"/>
    </p:embeddedFont>
    <p:embeddedFont>
      <p:font typeface="Libre Baskerville" panose="02000000000000000000" pitchFamily="2" charset="0"/>
      <p:regular r:id="rId25"/>
      <p:bold r:id="rId26"/>
      <p: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5" roundtripDataSignature="AMtx7mhnFQsu0qTBRZ+C47HNp0tuHCNk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757" autoAdjust="0"/>
    <p:restoredTop sz="94660"/>
  </p:normalViewPr>
  <p:slideViewPr>
    <p:cSldViewPr snapToGrid="0">
      <p:cViewPr varScale="1">
        <p:scale>
          <a:sx n="59" d="100"/>
          <a:sy n="59" d="100"/>
        </p:scale>
        <p:origin x="82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5" Type="http://customschemas.google.com/relationships/presentationmetadata" Target="metadata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.shiva prasad" userId="b909da816468e7f6" providerId="LiveId" clId="{CCE77B94-FFCE-4AB1-AD0C-F2CBD8499E52}"/>
    <pc:docChg chg="undo custSel addSld delSld modSld sldOrd">
      <pc:chgData name="k.shiva prasad" userId="b909da816468e7f6" providerId="LiveId" clId="{CCE77B94-FFCE-4AB1-AD0C-F2CBD8499E52}" dt="2026-06-19T09:57:38.066" v="231"/>
      <pc:docMkLst>
        <pc:docMk/>
      </pc:docMkLst>
      <pc:sldChg chg="modSp mod">
        <pc:chgData name="k.shiva prasad" userId="b909da816468e7f6" providerId="LiveId" clId="{CCE77B94-FFCE-4AB1-AD0C-F2CBD8499E52}" dt="2026-06-19T09:55:04.744" v="202" actId="14100"/>
        <pc:sldMkLst>
          <pc:docMk/>
          <pc:sldMk cId="0" sldId="256"/>
        </pc:sldMkLst>
        <pc:spChg chg="mod">
          <ac:chgData name="k.shiva prasad" userId="b909da816468e7f6" providerId="LiveId" clId="{CCE77B94-FFCE-4AB1-AD0C-F2CBD8499E52}" dt="2026-06-19T09:55:04.744" v="202" actId="14100"/>
          <ac:spMkLst>
            <pc:docMk/>
            <pc:sldMk cId="0" sldId="256"/>
            <ac:spMk id="99" creationId="{00000000-0000-0000-0000-000000000000}"/>
          </ac:spMkLst>
        </pc:spChg>
      </pc:sldChg>
      <pc:sldChg chg="modSp mod">
        <pc:chgData name="k.shiva prasad" userId="b909da816468e7f6" providerId="LiveId" clId="{CCE77B94-FFCE-4AB1-AD0C-F2CBD8499E52}" dt="2026-06-19T09:54:42.907" v="200" actId="20577"/>
        <pc:sldMkLst>
          <pc:docMk/>
          <pc:sldMk cId="3400726894" sldId="305"/>
        </pc:sldMkLst>
        <pc:spChg chg="mod">
          <ac:chgData name="k.shiva prasad" userId="b909da816468e7f6" providerId="LiveId" clId="{CCE77B94-FFCE-4AB1-AD0C-F2CBD8499E52}" dt="2026-06-19T09:54:42.907" v="200" actId="20577"/>
          <ac:spMkLst>
            <pc:docMk/>
            <pc:sldMk cId="3400726894" sldId="305"/>
            <ac:spMk id="3" creationId="{3853A6C4-B5C2-CBA2-BEC9-895CD09E53B2}"/>
          </ac:spMkLst>
        </pc:spChg>
      </pc:sldChg>
      <pc:sldChg chg="modSp mod">
        <pc:chgData name="k.shiva prasad" userId="b909da816468e7f6" providerId="LiveId" clId="{CCE77B94-FFCE-4AB1-AD0C-F2CBD8499E52}" dt="2026-06-19T09:36:01.493" v="58" actId="20577"/>
        <pc:sldMkLst>
          <pc:docMk/>
          <pc:sldMk cId="248573125" sldId="316"/>
        </pc:sldMkLst>
        <pc:spChg chg="mod">
          <ac:chgData name="k.shiva prasad" userId="b909da816468e7f6" providerId="LiveId" clId="{CCE77B94-FFCE-4AB1-AD0C-F2CBD8499E52}" dt="2026-06-19T09:36:01.493" v="58" actId="20577"/>
          <ac:spMkLst>
            <pc:docMk/>
            <pc:sldMk cId="248573125" sldId="316"/>
            <ac:spMk id="3" creationId="{9EF74536-4B4E-92EE-1DB9-2017117E1347}"/>
          </ac:spMkLst>
        </pc:spChg>
      </pc:sldChg>
      <pc:sldChg chg="modSp mod">
        <pc:chgData name="k.shiva prasad" userId="b909da816468e7f6" providerId="LiveId" clId="{CCE77B94-FFCE-4AB1-AD0C-F2CBD8499E52}" dt="2026-06-19T09:36:27.211" v="61" actId="5793"/>
        <pc:sldMkLst>
          <pc:docMk/>
          <pc:sldMk cId="2904769696" sldId="330"/>
        </pc:sldMkLst>
        <pc:spChg chg="mod">
          <ac:chgData name="k.shiva prasad" userId="b909da816468e7f6" providerId="LiveId" clId="{CCE77B94-FFCE-4AB1-AD0C-F2CBD8499E52}" dt="2026-06-19T09:36:27.211" v="61" actId="5793"/>
          <ac:spMkLst>
            <pc:docMk/>
            <pc:sldMk cId="2904769696" sldId="330"/>
            <ac:spMk id="3" creationId="{F94EDD27-C91D-432F-D1B0-7270E35A6FBC}"/>
          </ac:spMkLst>
        </pc:spChg>
      </pc:sldChg>
      <pc:sldChg chg="modSp mod">
        <pc:chgData name="k.shiva prasad" userId="b909da816468e7f6" providerId="LiveId" clId="{CCE77B94-FFCE-4AB1-AD0C-F2CBD8499E52}" dt="2026-06-19T09:40:47.066" v="62" actId="14100"/>
        <pc:sldMkLst>
          <pc:docMk/>
          <pc:sldMk cId="2685769830" sldId="334"/>
        </pc:sldMkLst>
        <pc:spChg chg="mod">
          <ac:chgData name="k.shiva prasad" userId="b909da816468e7f6" providerId="LiveId" clId="{CCE77B94-FFCE-4AB1-AD0C-F2CBD8499E52}" dt="2026-06-16T08:50:40.072" v="3" actId="14100"/>
          <ac:spMkLst>
            <pc:docMk/>
            <pc:sldMk cId="2685769830" sldId="334"/>
            <ac:spMk id="2" creationId="{1FFC8996-82D5-399A-01C0-096487A4B0B7}"/>
          </ac:spMkLst>
        </pc:spChg>
        <pc:picChg chg="mod">
          <ac:chgData name="k.shiva prasad" userId="b909da816468e7f6" providerId="LiveId" clId="{CCE77B94-FFCE-4AB1-AD0C-F2CBD8499E52}" dt="2026-06-19T09:35:26.564" v="55" actId="14100"/>
          <ac:picMkLst>
            <pc:docMk/>
            <pc:sldMk cId="2685769830" sldId="334"/>
            <ac:picMk id="5" creationId="{2C454229-2990-D121-FB18-24C9675FE229}"/>
          </ac:picMkLst>
        </pc:picChg>
        <pc:picChg chg="mod">
          <ac:chgData name="k.shiva prasad" userId="b909da816468e7f6" providerId="LiveId" clId="{CCE77B94-FFCE-4AB1-AD0C-F2CBD8499E52}" dt="2026-06-19T09:40:47.066" v="62" actId="14100"/>
          <ac:picMkLst>
            <pc:docMk/>
            <pc:sldMk cId="2685769830" sldId="334"/>
            <ac:picMk id="7" creationId="{2CB6CDDF-DE27-0F5F-F3C6-0CD73D99A6FC}"/>
          </ac:picMkLst>
        </pc:picChg>
      </pc:sldChg>
      <pc:sldChg chg="addSp delSp modSp new mod">
        <pc:chgData name="k.shiva prasad" userId="b909da816468e7f6" providerId="LiveId" clId="{CCE77B94-FFCE-4AB1-AD0C-F2CBD8499E52}" dt="2026-06-16T09:52:47.774" v="13" actId="1076"/>
        <pc:sldMkLst>
          <pc:docMk/>
          <pc:sldMk cId="3157525059" sldId="343"/>
        </pc:sldMkLst>
        <pc:picChg chg="add mod">
          <ac:chgData name="k.shiva prasad" userId="b909da816468e7f6" providerId="LiveId" clId="{CCE77B94-FFCE-4AB1-AD0C-F2CBD8499E52}" dt="2026-06-16T09:52:47.774" v="13" actId="1076"/>
          <ac:picMkLst>
            <pc:docMk/>
            <pc:sldMk cId="3157525059" sldId="343"/>
            <ac:picMk id="6" creationId="{8123D763-0A0E-C291-83B4-3F3929ADE636}"/>
          </ac:picMkLst>
        </pc:picChg>
      </pc:sldChg>
      <pc:sldChg chg="modSp new mod">
        <pc:chgData name="k.shiva prasad" userId="b909da816468e7f6" providerId="LiveId" clId="{CCE77B94-FFCE-4AB1-AD0C-F2CBD8499E52}" dt="2026-06-19T09:28:46.905" v="48" actId="20577"/>
        <pc:sldMkLst>
          <pc:docMk/>
          <pc:sldMk cId="2507495793" sldId="344"/>
        </pc:sldMkLst>
        <pc:spChg chg="mod">
          <ac:chgData name="k.shiva prasad" userId="b909da816468e7f6" providerId="LiveId" clId="{CCE77B94-FFCE-4AB1-AD0C-F2CBD8499E52}" dt="2026-06-19T09:27:09.591" v="41" actId="207"/>
          <ac:spMkLst>
            <pc:docMk/>
            <pc:sldMk cId="2507495793" sldId="344"/>
            <ac:spMk id="2" creationId="{4C6CF2D8-8C4A-2CB2-5226-4AD256319972}"/>
          </ac:spMkLst>
        </pc:spChg>
        <pc:spChg chg="mod">
          <ac:chgData name="k.shiva prasad" userId="b909da816468e7f6" providerId="LiveId" clId="{CCE77B94-FFCE-4AB1-AD0C-F2CBD8499E52}" dt="2026-06-19T09:28:46.905" v="48" actId="20577"/>
          <ac:spMkLst>
            <pc:docMk/>
            <pc:sldMk cId="2507495793" sldId="344"/>
            <ac:spMk id="3" creationId="{F44CADF9-FB35-9D55-21D1-ADBE45860DE5}"/>
          </ac:spMkLst>
        </pc:spChg>
      </pc:sldChg>
      <pc:sldChg chg="addSp delSp modSp new mod ord">
        <pc:chgData name="k.shiva prasad" userId="b909da816468e7f6" providerId="LiveId" clId="{CCE77B94-FFCE-4AB1-AD0C-F2CBD8499E52}" dt="2026-06-19T09:57:38.066" v="231"/>
        <pc:sldMkLst>
          <pc:docMk/>
          <pc:sldMk cId="3393321993" sldId="345"/>
        </pc:sldMkLst>
        <pc:spChg chg="add del mod">
          <ac:chgData name="k.shiva prasad" userId="b909da816468e7f6" providerId="LiveId" clId="{CCE77B94-FFCE-4AB1-AD0C-F2CBD8499E52}" dt="2026-06-19T09:55:45.629" v="229" actId="20577"/>
          <ac:spMkLst>
            <pc:docMk/>
            <pc:sldMk cId="3393321993" sldId="345"/>
            <ac:spMk id="2" creationId="{C80F2746-55EE-95B9-0A44-E56E7C09FEF1}"/>
          </ac:spMkLst>
        </pc:spChg>
        <pc:spChg chg="add del mod">
          <ac:chgData name="k.shiva prasad" userId="b909da816468e7f6" providerId="LiveId" clId="{CCE77B94-FFCE-4AB1-AD0C-F2CBD8499E52}" dt="2026-06-19T09:47:21.470" v="103" actId="27636"/>
          <ac:spMkLst>
            <pc:docMk/>
            <pc:sldMk cId="3393321993" sldId="345"/>
            <ac:spMk id="3" creationId="{4E6566B7-2E8B-911F-321A-14462A02B3D8}"/>
          </ac:spMkLst>
        </pc:spChg>
        <pc:spChg chg="add del mod">
          <ac:chgData name="k.shiva prasad" userId="b909da816468e7f6" providerId="LiveId" clId="{CCE77B94-FFCE-4AB1-AD0C-F2CBD8499E52}" dt="2026-06-19T09:50:27.569" v="111"/>
          <ac:spMkLst>
            <pc:docMk/>
            <pc:sldMk cId="3393321993" sldId="345"/>
            <ac:spMk id="4" creationId="{2AF766E8-A551-F266-9470-6FDA5E558CEB}"/>
          </ac:spMkLst>
        </pc:spChg>
        <pc:spChg chg="add mod">
          <ac:chgData name="k.shiva prasad" userId="b909da816468e7f6" providerId="LiveId" clId="{CCE77B94-FFCE-4AB1-AD0C-F2CBD8499E52}" dt="2026-06-19T09:51:23.018" v="119" actId="14100"/>
          <ac:spMkLst>
            <pc:docMk/>
            <pc:sldMk cId="3393321993" sldId="345"/>
            <ac:spMk id="5" creationId="{D368C906-4B0B-7201-7033-AD8EC55E2837}"/>
          </ac:spMkLst>
        </pc:spChg>
      </pc:sldChg>
      <pc:sldChg chg="modSp add del mod setBg">
        <pc:chgData name="k.shiva prasad" userId="b909da816468e7f6" providerId="LiveId" clId="{CCE77B94-FFCE-4AB1-AD0C-F2CBD8499E52}" dt="2026-06-19T09:51:37.372" v="120" actId="2696"/>
        <pc:sldMkLst>
          <pc:docMk/>
          <pc:sldMk cId="0" sldId="346"/>
        </pc:sldMkLst>
        <pc:spChg chg="mod">
          <ac:chgData name="k.shiva prasad" userId="b909da816468e7f6" providerId="LiveId" clId="{CCE77B94-FFCE-4AB1-AD0C-F2CBD8499E52}" dt="2026-06-19T09:42:18.684" v="74" actId="207"/>
          <ac:spMkLst>
            <pc:docMk/>
            <pc:sldMk cId="0" sldId="346"/>
            <ac:spMk id="2" creationId="{00000000-0000-0000-0000-000000000000}"/>
          </ac:spMkLst>
        </pc:spChg>
        <pc:spChg chg="mod">
          <ac:chgData name="k.shiva prasad" userId="b909da816468e7f6" providerId="LiveId" clId="{CCE77B94-FFCE-4AB1-AD0C-F2CBD8499E52}" dt="2026-06-19T09:42:58.488" v="75" actId="2711"/>
          <ac:spMkLst>
            <pc:docMk/>
            <pc:sldMk cId="0" sldId="346"/>
            <ac:spMk id="5" creationId="{00000000-0000-0000-0000-000000000000}"/>
          </ac:spMkLst>
        </pc:spChg>
      </pc:sldChg>
      <pc:sldMasterChg chg="delSldLayout">
        <pc:chgData name="k.shiva prasad" userId="b909da816468e7f6" providerId="LiveId" clId="{CCE77B94-FFCE-4AB1-AD0C-F2CBD8499E52}" dt="2026-06-19T09:51:37.372" v="120" actId="2696"/>
        <pc:sldMasterMkLst>
          <pc:docMk/>
          <pc:sldMasterMk cId="0" sldId="2147483648"/>
        </pc:sldMasterMkLst>
        <pc:sldLayoutChg chg="del">
          <pc:chgData name="k.shiva prasad" userId="b909da816468e7f6" providerId="LiveId" clId="{CCE77B94-FFCE-4AB1-AD0C-F2CBD8499E52}" dt="2026-06-19T09:51:37.372" v="120" actId="2696"/>
          <pc:sldLayoutMkLst>
            <pc:docMk/>
            <pc:sldMasterMk cId="0" sldId="2147483648"/>
            <pc:sldLayoutMk cId="1728052035" sldId="214748366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7" name="Google Shape;27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-shiva248" TargetMode="External"/><Relationship Id="rId2" Type="http://schemas.openxmlformats.org/officeDocument/2006/relationships/hyperlink" Target="https://www.linkedin.com/in/kuntimally-shiva-prasad-95740b39a/" TargetMode="Externa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2" y="9427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124562" y="3750643"/>
            <a:ext cx="7835867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IN" sz="3200" b="1" dirty="0"/>
              <a:t>Library Database Anlaysis</a:t>
            </a:r>
          </a:p>
          <a:p>
            <a:pPr lvl="0" algn="ctr"/>
            <a:r>
              <a:rPr lang="en-IN" sz="3200" b="1" dirty="0"/>
              <a:t>Using SQL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8505BD-8659-CBA3-EE4A-203767FCA1AD}"/>
              </a:ext>
            </a:extLst>
          </p:cNvPr>
          <p:cNvSpPr txBox="1"/>
          <p:nvPr/>
        </p:nvSpPr>
        <p:spPr>
          <a:xfrm>
            <a:off x="9198429" y="4827821"/>
            <a:ext cx="241662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FF0000"/>
                </a:solidFill>
              </a:rPr>
              <a:t>Presented By:</a:t>
            </a:r>
          </a:p>
          <a:p>
            <a:r>
              <a:rPr lang="en-US" sz="1800" dirty="0">
                <a:solidFill>
                  <a:schemeClr val="tx1"/>
                </a:solidFill>
              </a:rPr>
              <a:t>K. Shiva Prasad</a:t>
            </a:r>
          </a:p>
          <a:p>
            <a:r>
              <a:rPr lang="en-US" sz="1800" dirty="0">
                <a:solidFill>
                  <a:schemeClr val="tx1"/>
                </a:solidFill>
              </a:rPr>
              <a:t>Batch no: 493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8F083-38FC-E0CC-64FE-0DED71F0A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235075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About me:</a:t>
            </a:r>
            <a:br>
              <a:rPr lang="en-IN" dirty="0">
                <a:solidFill>
                  <a:srgbClr val="FF0000"/>
                </a:solidFill>
              </a:rPr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02FB72-E1CE-51C2-46F8-38857F8AF1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04257"/>
            <a:ext cx="10515600" cy="4772706"/>
          </a:xfrm>
        </p:spPr>
        <p:txBody>
          <a:bodyPr/>
          <a:lstStyle/>
          <a:p>
            <a:r>
              <a:rPr lang="en-US" b="1" dirty="0"/>
              <a:t>Background</a:t>
            </a:r>
            <a:r>
              <a:rPr lang="en-US" dirty="0"/>
              <a:t>: B.TECH – ECE</a:t>
            </a:r>
          </a:p>
          <a:p>
            <a:r>
              <a:rPr lang="en-US" b="1" dirty="0"/>
              <a:t>Course</a:t>
            </a:r>
            <a:r>
              <a:rPr lang="en-US" dirty="0"/>
              <a:t>: Data Analytics (Innomatics Research Labs)</a:t>
            </a:r>
          </a:p>
          <a:p>
            <a:r>
              <a:rPr lang="en-US" b="1" dirty="0"/>
              <a:t>Why Data Analytics : </a:t>
            </a:r>
            <a:r>
              <a:rPr lang="en-US" dirty="0"/>
              <a:t>I am interested in Data Analytics because it helps transform data into meaningful insights that support better business decisions.</a:t>
            </a:r>
            <a:r>
              <a:rPr lang="en-US" b="1" dirty="0"/>
              <a:t> </a:t>
            </a:r>
          </a:p>
          <a:p>
            <a:r>
              <a:rPr lang="en-US" b="1" dirty="0"/>
              <a:t>Linkedin </a:t>
            </a:r>
            <a:r>
              <a:rPr lang="en-US" dirty="0"/>
              <a:t>:</a:t>
            </a:r>
            <a:r>
              <a:rPr lang="en-US" dirty="0">
                <a:hlinkClick r:id="rId2"/>
              </a:rPr>
              <a:t>https://www.linkedin.com/in/kuntimally-shiva-prasad-95740b39a/</a:t>
            </a:r>
            <a:endParaRPr lang="en-US" dirty="0"/>
          </a:p>
          <a:p>
            <a:r>
              <a:rPr lang="en-US" b="1" dirty="0"/>
              <a:t>Github </a:t>
            </a:r>
            <a:r>
              <a:rPr lang="en-US" dirty="0"/>
              <a:t>: </a:t>
            </a:r>
            <a:r>
              <a:rPr lang="en-US" u="sng" dirty="0">
                <a:hlinkClick r:id="rId3"/>
              </a:rPr>
              <a:t>https://github.com/k-shiva248</a:t>
            </a:r>
            <a:endParaRPr lang="en-US" u="sng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827900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79D3F-7B40-3436-2515-3815A782C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201"/>
            <a:ext cx="10515600" cy="794656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Agenda</a:t>
            </a:r>
            <a:endParaRPr lang="en-US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53A6C4-B5C2-CBA2-BEC9-895CD09E53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674914"/>
            <a:ext cx="10515600" cy="5301343"/>
          </a:xfrm>
        </p:spPr>
        <p:txBody>
          <a:bodyPr>
            <a:normAutofit/>
          </a:bodyPr>
          <a:lstStyle/>
          <a:p>
            <a:endParaRPr lang="en-US" sz="1800" b="1" dirty="0"/>
          </a:p>
          <a:p>
            <a:r>
              <a:rPr lang="en-US" b="1" dirty="0"/>
              <a:t>Business Problem</a:t>
            </a:r>
          </a:p>
          <a:p>
            <a:r>
              <a:rPr lang="en-US" b="1" dirty="0"/>
              <a:t>Problem Statement</a:t>
            </a:r>
          </a:p>
          <a:p>
            <a:r>
              <a:rPr lang="en-US" b="1" dirty="0"/>
              <a:t>Project Objective</a:t>
            </a:r>
          </a:p>
          <a:p>
            <a:r>
              <a:rPr lang="en-US" b="1" dirty="0">
                <a:solidFill>
                  <a:schemeClr val="tx1"/>
                </a:solidFill>
              </a:rPr>
              <a:t>ER Diagram and Schema Explaination</a:t>
            </a:r>
          </a:p>
          <a:p>
            <a:r>
              <a:rPr lang="en-IN" b="1" dirty="0"/>
              <a:t>SQL Queries Results</a:t>
            </a:r>
          </a:p>
          <a:p>
            <a:r>
              <a:rPr lang="en-US" b="1" dirty="0"/>
              <a:t>Business Key Insights</a:t>
            </a:r>
          </a:p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Conclusion</a:t>
            </a:r>
          </a:p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Recommendations</a:t>
            </a:r>
          </a:p>
          <a:p>
            <a:endParaRPr lang="en-US" sz="1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sz="1800" b="1" dirty="0"/>
          </a:p>
          <a:p>
            <a:endParaRPr lang="en-US" sz="1800" b="1" dirty="0"/>
          </a:p>
          <a:p>
            <a:endParaRPr lang="en-US" sz="1800" b="1" dirty="0"/>
          </a:p>
          <a:p>
            <a:endParaRPr lang="en-US" sz="1800" b="1" dirty="0"/>
          </a:p>
          <a:p>
            <a:endParaRPr lang="en-US" sz="1800" b="1" dirty="0"/>
          </a:p>
          <a:p>
            <a:endParaRPr 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34007268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2D8B4-0C12-218E-21BA-A56D6739B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8266"/>
            <a:ext cx="11006559" cy="1158569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Business Problem</a:t>
            </a:r>
            <a:r>
              <a:rPr lang="en-US" dirty="0">
                <a:solidFill>
                  <a:srgbClr val="FF0000"/>
                </a:solidFill>
              </a:rPr>
              <a:t>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52B15B-8F8A-2275-4852-C3BA8E0FB1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0486" y="1621971"/>
            <a:ext cx="11224273" cy="426719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Difficulty in managing large volumes of book records manually.</a:t>
            </a:r>
          </a:p>
          <a:p>
            <a:pPr>
              <a:lnSpc>
                <a:spcPct val="100000"/>
              </a:lnSpc>
            </a:pPr>
            <a:r>
              <a:rPr lang="en-US" dirty="0"/>
              <a:t>Lack of real-time information on book availability across branches.</a:t>
            </a:r>
          </a:p>
          <a:p>
            <a:pPr>
              <a:lnSpc>
                <a:spcPct val="100000"/>
              </a:lnSpc>
            </a:pPr>
            <a:r>
              <a:rPr lang="en-US" dirty="0"/>
              <a:t>Inefficient tracking of borrowed and returned books.</a:t>
            </a:r>
          </a:p>
          <a:p>
            <a:pPr>
              <a:lnSpc>
                <a:spcPct val="100000"/>
              </a:lnSpc>
            </a:pPr>
            <a:r>
              <a:rPr lang="en-US" dirty="0"/>
              <a:t>Errors and duplication in borrower record management.</a:t>
            </a:r>
          </a:p>
          <a:p>
            <a:pPr>
              <a:lnSpc>
                <a:spcPct val="100000"/>
              </a:lnSpc>
            </a:pPr>
            <a:r>
              <a:rPr lang="en-US" dirty="0"/>
              <a:t>Challenges in monitoring overdue books and due dates.</a:t>
            </a:r>
          </a:p>
          <a:p>
            <a:pPr>
              <a:lnSpc>
                <a:spcPct val="100000"/>
              </a:lnSpc>
            </a:pPr>
            <a:r>
              <a:rPr lang="en-US" dirty="0"/>
              <a:t>Limited reporting and analysis of library usage and inventory.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0499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750DD-C952-81A6-4AE9-35AE75232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257" y="152400"/>
            <a:ext cx="10515600" cy="1393371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Problem Statement: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FCC605-E0BF-5A28-86E9-88BF7D32C8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21971"/>
            <a:ext cx="10515600" cy="455499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Centralize management of books, authors, publishers, and borrowers in a single database.</a:t>
            </a:r>
          </a:p>
          <a:p>
            <a:pPr>
              <a:lnSpc>
                <a:spcPct val="100000"/>
              </a:lnSpc>
            </a:pPr>
            <a:r>
              <a:rPr lang="en-US" dirty="0"/>
              <a:t>Track book availability and copies across multiple library branches.</a:t>
            </a:r>
          </a:p>
          <a:p>
            <a:pPr>
              <a:lnSpc>
                <a:spcPct val="100000"/>
              </a:lnSpc>
            </a:pPr>
            <a:r>
              <a:rPr lang="en-US" dirty="0"/>
              <a:t>Maintain accurate borrower records and membership details.</a:t>
            </a:r>
          </a:p>
          <a:p>
            <a:pPr>
              <a:lnSpc>
                <a:spcPct val="100000"/>
              </a:lnSpc>
            </a:pPr>
            <a:r>
              <a:rPr lang="en-US" dirty="0"/>
              <a:t>Monitor book issue, return, and due dates efficiently.</a:t>
            </a:r>
          </a:p>
          <a:p>
            <a:pPr>
              <a:lnSpc>
                <a:spcPct val="100000"/>
              </a:lnSpc>
            </a:pPr>
            <a:r>
              <a:rPr lang="en-US" dirty="0"/>
              <a:t>Reduce manual errors through automated record management.</a:t>
            </a:r>
          </a:p>
          <a:p>
            <a:pPr>
              <a:lnSpc>
                <a:spcPct val="100000"/>
              </a:lnSpc>
            </a:pPr>
            <a:r>
              <a:rPr lang="en-US" dirty="0"/>
              <a:t>Generate reports on book circulation, inventory, and borrower activity.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53627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CF2D8-8C4A-2CB2-5226-4AD256319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Project Objective: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4CADF9-FB35-9D55-21D1-ADBE45860D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The main objective of this project is to design and analyze a Library Management System using SQL to efficiently manage books, authors, publishers, borrowers, library branches, and book loans.</a:t>
            </a:r>
          </a:p>
          <a:p>
            <a:pPr algn="just"/>
            <a:r>
              <a:rPr lang="en-US" dirty="0"/>
              <a:t>The system aims to automate library operations, maintain accurate records, track book availability across branches, monitor borrowing and return activities, and generate meaningful reports for better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25074957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C8996-82D5-399A-01C0-096487A4B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7971"/>
            <a:ext cx="10515600" cy="897453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ER DIAGRAM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454229-2990-D121-FB18-24C9675FE2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1088020"/>
            <a:ext cx="7097486" cy="49847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B6CDDF-DE27-0F5F-F3C6-0CD73D99A6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1" y="785210"/>
            <a:ext cx="4756230" cy="5287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7698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F2746-55EE-95B9-0A44-E56E7C09F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94845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Schema Explaination: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6566B7-2E8B-911F-321A-14462A02B3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383971"/>
            <a:ext cx="10515600" cy="3792992"/>
          </a:xfrm>
        </p:spPr>
        <p:txBody>
          <a:bodyPr>
            <a:normAutofit fontScale="85000" lnSpcReduction="10000"/>
          </a:bodyPr>
          <a:lstStyle/>
          <a:p>
            <a:pPr marL="457189" indent="-457189">
              <a:spcAft>
                <a:spcPts val="800"/>
              </a:spcAft>
              <a:buSzPct val="100000"/>
            </a:pPr>
            <a:r>
              <a:rPr lang="en-US" b="1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tbl_book</a:t>
            </a:r>
            <a:r>
              <a:rPr lang="en-US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Stores book details (BookID, Title, PublisherName).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189" indent="-457189">
              <a:spcAft>
                <a:spcPts val="800"/>
              </a:spcAft>
              <a:buSzPct val="100000"/>
            </a:pPr>
            <a:r>
              <a:rPr lang="en-US" b="1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tbl_book_authors</a:t>
            </a:r>
            <a:r>
              <a:rPr lang="en-US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Links books to their authors.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189" indent="-457189">
              <a:spcAft>
                <a:spcPts val="800"/>
              </a:spcAft>
              <a:buSzPct val="100000"/>
            </a:pPr>
            <a:r>
              <a:rPr lang="en-US" b="1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tbl_publisher</a:t>
            </a:r>
            <a:r>
              <a:rPr lang="en-US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Contains publisher contact information.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189" indent="-457189">
              <a:spcAft>
                <a:spcPts val="800"/>
              </a:spcAft>
              <a:buSzPct val="100000"/>
            </a:pPr>
            <a:r>
              <a:rPr lang="en-US" b="1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tbl_library_branch</a:t>
            </a:r>
            <a:r>
              <a:rPr lang="en-US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Lists all library branches.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189" indent="-457189">
              <a:spcAft>
                <a:spcPts val="800"/>
              </a:spcAft>
              <a:buSzPct val="100000"/>
            </a:pPr>
            <a:r>
              <a:rPr lang="en-US" b="1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tbl_borrower</a:t>
            </a:r>
            <a:r>
              <a:rPr lang="en-US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Stores borrower details such as name and contact.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189" indent="-457189">
              <a:spcAft>
                <a:spcPts val="800"/>
              </a:spcAft>
              <a:buSzPct val="100000"/>
            </a:pPr>
            <a:r>
              <a:rPr lang="en-US" b="1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tbl_book_copies</a:t>
            </a:r>
            <a:r>
              <a:rPr lang="en-US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Tracks the number of copies of each book in each branch.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189" indent="-457189">
              <a:spcAft>
                <a:spcPts val="800"/>
              </a:spcAft>
              <a:buSzPct val="100000"/>
            </a:pPr>
            <a:r>
              <a:rPr lang="en-US" b="1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tbl_book_loans</a:t>
            </a:r>
            <a:r>
              <a:rPr lang="en-US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Records when a borrower loans a book from a specific branch.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" indent="0">
              <a:buNone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68C906-4B0B-7201-7033-AD8EC55E2837}"/>
              </a:ext>
            </a:extLst>
          </p:cNvPr>
          <p:cNvSpPr txBox="1"/>
          <p:nvPr/>
        </p:nvSpPr>
        <p:spPr>
          <a:xfrm>
            <a:off x="838200" y="1295400"/>
            <a:ext cx="109074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schema models a library management system, tracking books, authors, branches, borrowers, loans, publishers, and copies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933219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6DB5A-366E-0428-5C46-260AE0A55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172"/>
            <a:ext cx="10515600" cy="1404258"/>
          </a:xfrm>
        </p:spPr>
        <p:txBody>
          <a:bodyPr>
            <a:normAutofit fontScale="90000"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How many copies of the book titled "The Lost Tribe" are owned by the library branch whose name is "Sharpstown"?</a:t>
            </a:r>
            <a:br>
              <a:rPr lang="en-US" dirty="0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70F1B7-77BF-054B-C8FE-191CC09812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714" y="1593169"/>
            <a:ext cx="5772706" cy="41871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9516580-D610-6F32-357B-BB9EB767E2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4544" y="2367173"/>
            <a:ext cx="3135084" cy="1693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0789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DFB49-8FEC-07C9-AFD6-31E4127FD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100" dirty="0">
                <a:solidFill>
                  <a:srgbClr val="FF0000"/>
                </a:solidFill>
              </a:rPr>
              <a:t>How many copies of the book titled "The Lost Tribe" are owned by each library branch?</a:t>
            </a:r>
            <a:br>
              <a:rPr lang="en-US" dirty="0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224D0D-E27A-7072-B40E-436536F000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454" y="1839687"/>
            <a:ext cx="4926345" cy="39732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250FF6A-C238-CA30-551F-EA5DD33DF6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6714" y="2030160"/>
            <a:ext cx="3559629" cy="3401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3321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921DA-74B4-D298-DBAC-4A1614EC2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Retrieve the names of all borrowers who do not have any books checked out.</a:t>
            </a:r>
            <a:br>
              <a:rPr lang="en-US" dirty="0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BEC783-EB44-1D32-4C57-6B8D5EB409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371" y="2079171"/>
            <a:ext cx="4746172" cy="34725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D97BDC5-545F-34E9-199B-5DDB660509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2391666"/>
            <a:ext cx="3211286" cy="2136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8093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B9609-1F59-3C38-FD12-F31BA8667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779361"/>
          </a:xfrm>
        </p:spPr>
        <p:txBody>
          <a:bodyPr>
            <a:normAutofit fontScale="90000"/>
          </a:bodyPr>
          <a:lstStyle/>
          <a:p>
            <a:r>
              <a:rPr lang="en-US" sz="3100" dirty="0">
                <a:solidFill>
                  <a:srgbClr val="FF0000"/>
                </a:solidFill>
              </a:rPr>
              <a:t>For each book that is loaned out from the "Sharpstown" branch and whose Due Date is 2/3/18, retrieve the book title, the borrower's name, and the borrower's address</a:t>
            </a:r>
            <a:r>
              <a:rPr lang="en-US" dirty="0"/>
              <a:t>. </a:t>
            </a:r>
            <a:br>
              <a:rPr lang="en-US" dirty="0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5142D3-F45D-E8E3-E1E2-1C06247511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333" y="1905000"/>
            <a:ext cx="5085581" cy="38644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E37F91E-C4CB-42D6-91F4-3F058FCAF6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3781" y="1785256"/>
            <a:ext cx="5725887" cy="3984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433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31321-0DAA-66FF-4072-02A9D0208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For each library branch, retrieve the branch name and the total number of books loaned out from that branch.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459DBC-2165-120E-3EFE-B7A9E280FD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92086"/>
            <a:ext cx="4659086" cy="38753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4F2775F-43A4-3431-FC70-7A67ACE494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0" y="2431999"/>
            <a:ext cx="3657600" cy="2825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9250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1CBA4-C884-5628-D3B7-D53816FF1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Retrieve the names, addresses, and number of books checked out for all borrowers who have more than five books checked out.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AB9B0C-CFA8-3199-CE1F-8C52E032DA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24743"/>
            <a:ext cx="4528457" cy="39950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B0BD427-F876-B277-4DA8-9A1B5FDE16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5911" y="1861457"/>
            <a:ext cx="4737889" cy="3995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3032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22196-E329-5DD1-034B-BB0559360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For each book authored by "Stephen King", retrieve the title and the number of copies owned by the library branch whose name is "Central".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E8C2CA-BCBC-9C8D-AB8D-1C87F4DD9B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26771"/>
            <a:ext cx="5886753" cy="38644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007BF60-FA65-0A5B-B2D1-F1B5CC456B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2170" y="2412528"/>
            <a:ext cx="2902916" cy="2507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57605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8CD1D-3BE8-8C74-FB99-57C6E28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2046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Key Insights: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4EDD27-C91D-432F-D1B0-7270E35A6F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24000"/>
            <a:ext cx="10515600" cy="4652963"/>
          </a:xfrm>
        </p:spPr>
        <p:txBody>
          <a:bodyPr>
            <a:normAutofit fontScale="92500" lnSpcReduction="20000"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dirty="0"/>
              <a:t>A centralized database significantly improves the efficiency of library operations.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dirty="0"/>
              <a:t>Proper relational database design helps maintain data consistency and reduces redundancy.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dirty="0"/>
              <a:t>Real-time tracking of book inventory improves resource availability and management.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dirty="0"/>
              <a:t>Automated loan and return tracking minimizes manual errors and overdue book issues.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dirty="0"/>
              <a:t>SQL queries enable quick retrieval of information and generation of meaningful reports.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dirty="0"/>
              <a:t>Branch-wise inventory management helps optimize book distribution across libraries.</a:t>
            </a:r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7696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987D6-E05A-9C14-0ACA-EEFEF485B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CONCLUSION: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801B1D-7194-9144-23A6-87E203DB6A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34886"/>
            <a:ext cx="10515600" cy="464207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 Library Management System automates and simplifies library operations.</a:t>
            </a:r>
          </a:p>
          <a:p>
            <a:r>
              <a:rPr lang="en-US" dirty="0"/>
              <a:t>It efficiently manages books, borrowers, authors, publishers, and branches.</a:t>
            </a:r>
          </a:p>
          <a:p>
            <a:r>
              <a:rPr lang="en-US" dirty="0"/>
              <a:t>The system improves accuracy by reducing manual record-keeping errors.</a:t>
            </a:r>
          </a:p>
          <a:p>
            <a:r>
              <a:rPr lang="en-US" dirty="0"/>
              <a:t>It enables effective tracking of book availability, loans, and returns.</a:t>
            </a:r>
          </a:p>
          <a:p>
            <a:r>
              <a:rPr lang="en-US" dirty="0"/>
              <a:t>SQL-based database management ensures organized storage and quick data retrieval.</a:t>
            </a:r>
          </a:p>
          <a:p>
            <a:r>
              <a:rPr lang="en-US" dirty="0"/>
              <a:t>Overall, the project enhances library efficiency, resource utilization, and decision-making.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77475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A295F-5922-647C-C445-538ACB24C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FF0000"/>
                </a:solidFill>
              </a:rPr>
              <a:t>Recommendations: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F74536-4B4E-92EE-1DB9-2017117E13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600" dirty="0"/>
              <a:t>Implement an automated notification system for overdue and due books.</a:t>
            </a:r>
          </a:p>
          <a:p>
            <a:r>
              <a:rPr lang="en-US" sz="2600" dirty="0"/>
              <a:t>Add role-based access for librarians, administrators, and borrowers.</a:t>
            </a:r>
          </a:p>
          <a:p>
            <a:r>
              <a:rPr lang="en-US" sz="2600" dirty="0"/>
              <a:t>Introduce an online book search feature for faster book discovery.</a:t>
            </a:r>
          </a:p>
          <a:p>
            <a:r>
              <a:rPr lang="en-US" sz="2600" dirty="0"/>
              <a:t>Enable real-time inventory updates across all library branches.</a:t>
            </a:r>
          </a:p>
          <a:p>
            <a:r>
              <a:rPr lang="en-US" sz="2600" dirty="0"/>
              <a:t>Generate advanced reports and dashboards for better decision-making.</a:t>
            </a:r>
          </a:p>
          <a:p>
            <a:r>
              <a:rPr lang="en-US" sz="2600" dirty="0"/>
              <a:t>Integrate barcode or QR code scanning for efficient book issue and return processes.</a:t>
            </a:r>
          </a:p>
          <a:p>
            <a:pPr marL="114300" indent="0">
              <a:buNone/>
            </a:pPr>
            <a:endParaRPr lang="en-US" sz="2600" dirty="0"/>
          </a:p>
          <a:p>
            <a:pPr marL="11430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5731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123D763-0A0E-C291-83B4-3F3929ADE6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8087" y="1040198"/>
            <a:ext cx="6851783" cy="4052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5250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1435</TotalTime>
  <Words>807</Words>
  <Application>Microsoft Office PowerPoint</Application>
  <PresentationFormat>Widescreen</PresentationFormat>
  <Paragraphs>82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Lato Black</vt:lpstr>
      <vt:lpstr>Libre Baskerville</vt:lpstr>
      <vt:lpstr>Arial</vt:lpstr>
      <vt:lpstr>Calibri</vt:lpstr>
      <vt:lpstr>Wingdings</vt:lpstr>
      <vt:lpstr>Office Theme</vt:lpstr>
      <vt:lpstr>PowerPoint Presentation</vt:lpstr>
      <vt:lpstr>About me: </vt:lpstr>
      <vt:lpstr>Agenda</vt:lpstr>
      <vt:lpstr>Business Problem:</vt:lpstr>
      <vt:lpstr>Problem Statement:</vt:lpstr>
      <vt:lpstr>Project Objective:</vt:lpstr>
      <vt:lpstr>ER DIAGRAM</vt:lpstr>
      <vt:lpstr>Schema Explaination:</vt:lpstr>
      <vt:lpstr>How many copies of the book titled "The Lost Tribe" are owned by the library branch whose name is "Sharpstown"? </vt:lpstr>
      <vt:lpstr>How many copies of the book titled "The Lost Tribe" are owned by each library branch? </vt:lpstr>
      <vt:lpstr>Retrieve the names of all borrowers who do not have any books checked out. </vt:lpstr>
      <vt:lpstr>For each book that is loaned out from the "Sharpstown" branch and whose Due Date is 2/3/18, retrieve the book title, the borrower's name, and the borrower's address.  </vt:lpstr>
      <vt:lpstr>For each library branch, retrieve the branch name and the total number of books loaned out from that branch.</vt:lpstr>
      <vt:lpstr>Retrieve the names, addresses, and number of books checked out for all borrowers who have more than five books checked out.</vt:lpstr>
      <vt:lpstr>For each book authored by "Stephen King", retrieve the title and the number of copies owned by the library branch whose name is "Central".</vt:lpstr>
      <vt:lpstr>Key Insights:</vt:lpstr>
      <vt:lpstr>CONCLUSION:</vt:lpstr>
      <vt:lpstr>Recommendations: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k.shiva prasad</cp:lastModifiedBy>
  <cp:revision>28</cp:revision>
  <dcterms:created xsi:type="dcterms:W3CDTF">2021-02-16T05:19:01Z</dcterms:created>
  <dcterms:modified xsi:type="dcterms:W3CDTF">2026-06-19T10:00:29Z</dcterms:modified>
</cp:coreProperties>
</file>